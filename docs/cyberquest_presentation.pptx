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Outfit"/>
              </a:defRPr>
            </a:pPr>
            <a:r>
              <a:t>PROTOTYPE DEVELOPED:</a:t>
            </a:r>
          </a:p>
          <a:p>
            <a:pPr algn="ctr">
              <a:defRPr sz="5400" b="1">
                <a:solidFill>
                  <a:srgbClr val="D4AF37"/>
                </a:solidFill>
                <a:latin typeface="Cinzel Decorative"/>
              </a:defRPr>
            </a:pPr>
            <a:r>
              <a:t>CYBERQUEST RPG</a:t>
            </a:r>
          </a:p>
          <a:p>
            <a:pPr algn="ctr">
              <a:defRPr sz="1800" i="1">
                <a:solidFill>
                  <a:srgbClr val="FFFFFF"/>
                </a:solidFill>
                <a:latin typeface="Outfit"/>
              </a:defRPr>
            </a:pPr>
            <a:r>
              <a:t>"In the labyrinth of deception, knowledge is your weapon."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66"/>
                </a:solidFill>
                <a:latin typeface="Outfit"/>
              </a:defRPr>
            </a:pPr>
            <a:r>
              <a:t>Team: Internet Rangers (SETS Gameathon 2026 Finalist)</a:t>
            </a:r>
          </a:p>
          <a:p>
            <a:pPr algn="ctr">
              <a:defRPr sz="1500">
                <a:solidFill>
                  <a:srgbClr val="FFFFFF"/>
                </a:solidFill>
                <a:latin typeface="Outfit"/>
              </a:defRPr>
            </a:pPr>
            <a:r>
              <a:t>Sai Rakesh (Co-developer)  &amp;  Yashovardhan Reddy Kandi (Co-developer)</a:t>
            </a:r>
          </a:p>
          <a:p>
            <a:pPr algn="ctr">
              <a:defRPr sz="1200">
                <a:solidFill>
                  <a:srgbClr val="38BDF8"/>
                </a:solidFill>
                <a:latin typeface="Outfit"/>
              </a:defRPr>
            </a:pPr>
            <a:r>
              <a:t>C.R. Rao Advanced Institute of Mathematics, Statistics and Computer Science (AIMSCS), Hyderabad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Outfit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D4AF37"/>
                </a:solidFill>
                <a:latin typeface="Cinzel"/>
              </a:defRPr>
            </a:pPr>
            <a:r>
              <a:t>Social Engineering &amp; Threat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Outfit"/>
              </a:defRPr>
            </a:pPr>
            <a:r>
              <a:t>THE AWARENESS GAP</a:t>
            </a:r>
          </a:p>
          <a:p>
            <a:br/>
            <a:pPr>
              <a:defRPr sz="1500">
                <a:solidFill>
                  <a:srgbClr val="E2E8F0"/>
                </a:solidFill>
                <a:latin typeface="Outfit"/>
              </a:defRPr>
            </a:pPr>
            <a:r>
              <a:t>Today, millions of users fall victim to social engineering and malicious attacks due to a critical lack of cybersecurity awareness.</a:t>
            </a:r>
            <a:br/>
            <a:br/>
            <a:r>
              <a:t>Traditional methods like compliance PDFs or training videos are flat, passive, and fail to build split-second reflexes. Users learn facts for tests but cannot translate them into active safety measures when pressuring live threats manipulate their emotions.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solidFill>
            <a:srgbClr val="1A202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65760" wrap="square"/>
          <a:lstStyle/>
          <a:p>
            <a:pPr algn="ctr">
              <a:defRPr sz="1800" b="1">
                <a:solidFill>
                  <a:srgbClr val="D4AF37"/>
                </a:solidFill>
                <a:latin typeface="Outfit"/>
              </a:defRPr>
            </a:pPr>
            <a:r>
              <a:t>CRITICAL CHANNELS OF ATTACK</a:t>
            </a:r>
          </a:p>
          <a:p>
            <a:br/>
            <a:pPr>
              <a:defRPr sz="1300">
                <a:solidFill>
                  <a:srgbClr val="E2E8F0"/>
                </a:solidFill>
                <a:latin typeface="Outfit"/>
              </a:defRPr>
            </a:pPr>
            <a:r>
              <a:t>• Deceptive URLs &amp; Homographs:</a:t>
            </a:r>
            <a:br/>
            <a:r>
              <a:t>  Users overlook minor character anomalies (e.g. Cyrillic lookalikes) leading to login credential leaks.</a:t>
            </a:r>
            <a:br/>
            <a:br/>
            <a:r>
              <a:t>• High-Pressure Vishing Calls:</a:t>
            </a:r>
            <a:br/>
            <a:r>
              <a:t>  Deceptive caller profiles exploit urgency (e.g., fake banking fraud alerts) to extract OTPs or recovery codes.</a:t>
            </a:r>
            <a:br/>
            <a:br/>
            <a:r>
              <a:t>• Unverified updates &amp; downloads:</a:t>
            </a:r>
            <a:br/>
            <a:r>
              <a:t>  Malicious browser popups manipulate users into executing unverified malware scripts.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Outfit"/>
              </a:defRPr>
            </a:pPr>
            <a:r>
              <a:t>OBJECTIVE AND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D4AF37"/>
                </a:solidFill>
                <a:latin typeface="Cinzel"/>
              </a:defRPr>
            </a:pPr>
            <a:r>
              <a:t>Active Cybersecurity Sandbox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solidFill>
            <a:srgbClr val="1A20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wrap="square"/>
          <a:lstStyle/>
          <a:p>
            <a:pPr algn="ctr">
              <a:defRPr sz="1800" b="1">
                <a:solidFill>
                  <a:srgbClr val="38BDF8"/>
                </a:solidFill>
                <a:latin typeface="Outfit"/>
              </a:defRPr>
            </a:pPr>
            <a:r>
              <a:t>OBJECTIVE ABSTRACT</a:t>
            </a:r>
          </a:p>
          <a:p>
            <a:br/>
            <a:pPr>
              <a:defRPr sz="1400">
                <a:solidFill>
                  <a:srgbClr val="E2E8F0"/>
                </a:solidFill>
                <a:latin typeface="Outfit"/>
              </a:defRPr>
            </a:pPr>
            <a:r>
              <a:t>Our objective is to build a lightweight web-based training platform that translates security principles into live, actionable decision choices.</a:t>
            </a:r>
            <a:br/>
            <a:br/>
            <a:r>
              <a:t>CyberQuest RPG places users inside an interactive 3D labyrinth. By encountering simulated threats, users learn threat spotting, experience bad decisions in a low-risk failure sandbox, and configure defensive countermeasures to protect confidential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5080" y="1645920"/>
            <a:ext cx="5150815" cy="4114800"/>
          </a:xfrm>
          <a:prstGeom prst="rect">
            <a:avLst/>
          </a:prstGeom>
          <a:solidFill>
            <a:srgbClr val="1A202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wrap="square"/>
          <a:lstStyle/>
          <a:p>
            <a:pPr algn="ctr">
              <a:defRPr sz="1800" b="1">
                <a:solidFill>
                  <a:srgbClr val="D4AF37"/>
                </a:solidFill>
                <a:latin typeface="Outfit"/>
              </a:defRPr>
            </a:pPr>
            <a:r>
              <a:t>CORE STRATEGY PILLARS</a:t>
            </a:r>
          </a:p>
          <a:p>
            <a:br/>
            <a:pPr>
              <a:defRPr sz="1300">
                <a:solidFill>
                  <a:srgbClr val="E2E8F0"/>
                </a:solidFill>
                <a:latin typeface="Outfit"/>
              </a:defRPr>
            </a:pPr>
            <a:r>
              <a:t>• Recognize:</a:t>
            </a:r>
            <a:br/>
            <a:r>
              <a:t>  Train players to identify phishing domains, voice scam call indicators, and malicious browser updates.</a:t>
            </a:r>
            <a:br/>
            <a:br/>
            <a:r>
              <a:t>• Practice:</a:t>
            </a:r>
            <a:br/>
            <a:r>
              <a:t>  Gamified scenarios that adapt directly to user reactions (lowering HP for errors, rewarding coins for safety).</a:t>
            </a:r>
            <a:br/>
            <a:br/>
            <a:r>
              <a:t>• Protect:</a:t>
            </a:r>
            <a:br/>
            <a:r>
              <a:t>  Provide immediate actionable guidelines on verifying caller identities, protecting credentials, and configuring MFA.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Outfit"/>
              </a:defRPr>
            </a:pPr>
            <a:r>
              <a:t>TECHNOLOGY AND TOOLS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D4AF37"/>
                </a:solidFill>
                <a:latin typeface="Cinzel"/>
              </a:defRPr>
            </a:pPr>
            <a:r>
              <a:t>System Tech Stack &amp; Accessibility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383280" cy="4114800"/>
          </a:xfrm>
          <a:prstGeom prst="rect">
            <a:avLst/>
          </a:prstGeom>
          <a:solidFill>
            <a:srgbClr val="1A20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38BDF8"/>
                </a:solidFill>
                <a:latin typeface="Outfit"/>
              </a:defRPr>
            </a:pPr>
            <a:r>
              <a:t>FRONTEND CORE</a:t>
            </a:r>
          </a:p>
          <a:p>
            <a:br/>
            <a:pPr>
              <a:defRPr sz="1200">
                <a:solidFill>
                  <a:srgbClr val="E2E8F0"/>
                </a:solidFill>
                <a:latin typeface="Outfit"/>
              </a:defRPr>
            </a:pPr>
            <a:r>
              <a:t>• Vanilla Web Core:</a:t>
            </a:r>
            <a:br/>
            <a:r>
              <a:t>  HTML5, CSS3, and JavaScript deliver rapid execution without client overhead.</a:t>
            </a:r>
            <a:br/>
            <a:br/>
            <a:r>
              <a:t>• WebGL Graphics Engine:</a:t>
            </a:r>
            <a:br/>
            <a:r>
              <a:t>  Three.js (r128) creates a first-person 3D labyrinth, running smoothly on integrated graphics without setup or installations.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34840" y="1645920"/>
            <a:ext cx="3383280" cy="4114800"/>
          </a:xfrm>
          <a:prstGeom prst="rect">
            <a:avLst/>
          </a:prstGeom>
          <a:solidFill>
            <a:srgbClr val="1A202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D4AF37"/>
                </a:solidFill>
                <a:latin typeface="Outfit"/>
              </a:defRPr>
            </a:pPr>
            <a:r>
              <a:t>CLOUD INFRASTRUCTURE</a:t>
            </a:r>
          </a:p>
          <a:p>
            <a:br/>
            <a:pPr>
              <a:defRPr sz="1200">
                <a:solidFill>
                  <a:srgbClr val="E2E8F0"/>
                </a:solidFill>
                <a:latin typeface="Outfit"/>
              </a:defRPr>
            </a:pPr>
            <a:r>
              <a:t>• Firebase Hosting:</a:t>
            </a:r>
            <a:br/>
            <a:r>
              <a:t>  Deployed on a global CDN ensuring sub-second access.</a:t>
            </a:r>
            <a:br/>
            <a:br/>
            <a:r>
              <a:t>• Real-Time Firestore:</a:t>
            </a:r>
            <a:br/>
            <a:r>
              <a:t>  Tracks leaderboard details and statistics.</a:t>
            </a:r>
            <a:br/>
            <a:br/>
            <a:r>
              <a:t>• Anonymous Authentication:</a:t>
            </a:r>
            <a:br/>
            <a:r>
              <a:t>  Generates pseudonyms (Guardian #1731) to respect user privacy.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83880" y="1645920"/>
            <a:ext cx="3383280" cy="4114800"/>
          </a:xfrm>
          <a:prstGeom prst="rect">
            <a:avLst/>
          </a:prstGeom>
          <a:solidFill>
            <a:srgbClr val="1A202C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00FF66"/>
                </a:solidFill>
                <a:latin typeface="Outfit"/>
              </a:defRPr>
            </a:pPr>
            <a:r>
              <a:t>SECURE AI &amp; INCLUSIVITY</a:t>
            </a:r>
          </a:p>
          <a:p>
            <a:br/>
            <a:pPr>
              <a:defRPr sz="1200">
                <a:solidFill>
                  <a:srgbClr val="E2E8F0"/>
                </a:solidFill>
                <a:latin typeface="Outfit"/>
              </a:defRPr>
            </a:pPr>
            <a:r>
              <a:t>• Serverless Cloud Functions:</a:t>
            </a:r>
            <a:br/>
            <a:r>
              <a:t>  Proxies API keys (Groq Chat Completion LLM) server-side, protecting tokens.</a:t>
            </a:r>
            <a:br/>
            <a:br/>
            <a:r>
              <a:t>• Accessibility Adaptations:</a:t>
            </a:r>
            <a:br/>
            <a:r>
              <a:t>  Keyboard WASD/Arrow navigation, visual transcripts/subtitles for vishing audio calls, and zoom-friendly scales.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Outfit"/>
              </a:defRPr>
            </a:pPr>
            <a:r>
              <a:t>DELIVERABLE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D4AF37"/>
                </a:solidFill>
                <a:latin typeface="Cinzel"/>
              </a:defRPr>
            </a:pPr>
            <a:r>
              <a:t>Deliverable Outcome: Simulated Threat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1920240"/>
          </a:xfrm>
          <a:prstGeom prst="rect">
            <a:avLst/>
          </a:prstGeom>
          <a:solidFill>
            <a:srgbClr val="1A202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7000" wrap="square"/>
          <a:lstStyle/>
          <a:p>
            <a:pPr algn="ctr">
              <a:defRPr sz="1500" b="1">
                <a:solidFill>
                  <a:srgbClr val="D4AF37"/>
                </a:solidFill>
                <a:latin typeface="Outfit"/>
              </a:defRPr>
            </a:pPr>
            <a:r>
              <a:t>01 | PHISHING LINKS (HOMOGRAPH DETECTION)</a:t>
            </a:r>
          </a:p>
          <a:p>
            <a:pPr>
              <a:defRPr sz="1200">
                <a:solidFill>
                  <a:srgbClr val="E2E8F0"/>
                </a:solidFill>
                <a:latin typeface="Outfit"/>
              </a:defRPr>
            </a:pPr>
            <a:r>
              <a:t>Inspectable simulated alerts. Hovering over verify buttons reveals destination links, displaying homograph targets (e.g. Cyrillic lookalike letters in arcadıakyc-login.org).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5255" y="1645920"/>
            <a:ext cx="5120640" cy="1920240"/>
          </a:xfrm>
          <a:prstGeom prst="rect">
            <a:avLst/>
          </a:prstGeom>
          <a:solidFill>
            <a:srgbClr val="1A20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7000" wrap="square"/>
          <a:lstStyle/>
          <a:p>
            <a:pPr algn="ctr">
              <a:defRPr sz="1500" b="1">
                <a:solidFill>
                  <a:srgbClr val="38BDF8"/>
                </a:solidFill>
                <a:latin typeface="Outfit"/>
              </a:defRPr>
            </a:pPr>
            <a:r>
              <a:t>02 | SOCIAL ENGINEERING VISHING CALLS</a:t>
            </a:r>
          </a:p>
          <a:p>
            <a:pPr>
              <a:defRPr sz="1200">
                <a:solidFill>
                  <a:srgbClr val="E2E8F0"/>
                </a:solidFill>
                <a:latin typeface="Outfit"/>
              </a:defRPr>
            </a:pPr>
            <a:r>
              <a:t>Simulated Fraud Team telephone interactions. Evaluates user pressure limits, training them to hang up and verify rather than sharing confidential PINs/codes.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840480"/>
            <a:ext cx="5120640" cy="1920240"/>
          </a:xfrm>
          <a:prstGeom prst="rect">
            <a:avLst/>
          </a:prstGeom>
          <a:solidFill>
            <a:srgbClr val="1A202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7000" wrap="square"/>
          <a:lstStyle/>
          <a:p>
            <a:pPr algn="ctr">
              <a:defRPr sz="1500" b="1">
                <a:solidFill>
                  <a:srgbClr val="EF4444"/>
                </a:solidFill>
                <a:latin typeface="Outfit"/>
              </a:defRPr>
            </a:pPr>
            <a:r>
              <a:t>03 | MALWARE UPDATES &amp; AI GUIDE</a:t>
            </a:r>
          </a:p>
          <a:p>
            <a:pPr>
              <a:defRPr sz="1200">
                <a:solidFill>
                  <a:srgbClr val="E2E8F0"/>
                </a:solidFill>
                <a:latin typeface="Outfit"/>
              </a:defRPr>
            </a:pPr>
            <a:r>
              <a:t>Browser notification update simulation traps. Features an in-game conversational AI mentor ('Greymantle') powered by Firestore log histories and secure Groq APIs.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85255" y="3840480"/>
            <a:ext cx="5120640" cy="1920240"/>
          </a:xfrm>
          <a:prstGeom prst="rect">
            <a:avLst/>
          </a:prstGeom>
          <a:solidFill>
            <a:srgbClr val="1A202C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7000" wrap="square"/>
          <a:lstStyle/>
          <a:p>
            <a:pPr algn="ctr">
              <a:defRPr sz="1500" b="1">
                <a:solidFill>
                  <a:srgbClr val="00FF66"/>
                </a:solidFill>
                <a:latin typeface="Outfit"/>
              </a:defRPr>
            </a:pPr>
            <a:r>
              <a:t>04 | VOID COLLECTIVE SECURITY MCQ GATES</a:t>
            </a:r>
          </a:p>
          <a:p>
            <a:pPr>
              <a:defRPr sz="1200">
                <a:solidFill>
                  <a:srgbClr val="E2E8F0"/>
                </a:solidFill>
                <a:latin typeface="Outfit"/>
              </a:defRPr>
            </a:pPr>
            <a:r>
              <a:t>Portals requiring sequential MCQ answers (1 at a time, parallel choices). Players must score at least 2/3 correct to pass checkpoints and collect access keys.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Outfit"/>
              </a:defRPr>
            </a:pPr>
            <a: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D4AF37"/>
                </a:solidFill>
                <a:latin typeface="Cinzel"/>
              </a:defRPr>
            </a:pPr>
            <a:r>
              <a:t>Prototype Demonstration &amp; Evaluation Pitch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17352" cy="4114800"/>
          </a:xfrm>
          <a:prstGeom prst="rect">
            <a:avLst/>
          </a:prstGeom>
          <a:solidFill>
            <a:srgbClr val="1A202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 tIns="365760" wrap="square"/>
          <a:lstStyle/>
          <a:p>
            <a:pPr algn="ctr">
              <a:defRPr sz="2200" b="1">
                <a:solidFill>
                  <a:srgbClr val="D4AF37"/>
                </a:solidFill>
                <a:latin typeface="Outfit"/>
              </a:defRPr>
            </a:pPr>
            <a:r>
              <a:t>CYBERQUEST RPG: PRODUCTION PITCH &amp; SCENARIOS</a:t>
            </a:r>
          </a:p>
          <a:p>
            <a:br/>
            <a:pPr>
              <a:defRPr sz="1400">
                <a:solidFill>
                  <a:srgbClr val="E2E8F0"/>
                </a:solidFill>
                <a:latin typeface="Outfit"/>
              </a:defRPr>
            </a:pPr>
            <a:r>
              <a:t>• 10-Minute Live Walkthrough Plan:</a:t>
            </a:r>
            <a:br/>
            <a:r>
              <a:t>  1. Welcome Hub: Selecting training modules (Phishing, Scam calls, Mixed Threats).</a:t>
            </a:r>
            <a:br/>
            <a:r>
              <a:t>  2. Interactive Scenarios: Showing Homograph URL hover cues and Scam Call responses.</a:t>
            </a:r>
            <a:br/>
            <a:r>
              <a:t>  3. AI Guide Interaction: Conversing with Greymantle for threat advice.</a:t>
            </a:r>
            <a:br/>
            <a:r>
              <a:t>  4. Void Gates &amp; Leaderboard: sequential MCQ checkpoints and Firestore score submission.</a:t>
            </a:r>
            <a:br/>
            <a:br/>
            <a:r>
              <a:t>• Scoring Mechanics:</a:t>
            </a:r>
            <a:br/>
            <a:r>
              <a:t>  Score = XP earned + (Accuracy% × 2) + HP remaining.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4389120"/>
            <a:ext cx="7616952" cy="731520"/>
          </a:xfrm>
          <a:prstGeom prst="rect">
            <a:avLst/>
          </a:prstGeom>
          <a:solidFill>
            <a:srgbClr val="0B0E14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66"/>
                </a:solidFill>
                <a:latin typeface="Outfit"/>
              </a:defRPr>
            </a:pPr>
            <a:r>
              <a:t>PROTOTYPE DEMONSTRATION (10 MINUTES)</a:t>
            </a:r>
            <a:br/>
            <a:r>
              <a:t>Play now: https://cyberquest-rpg.web.app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