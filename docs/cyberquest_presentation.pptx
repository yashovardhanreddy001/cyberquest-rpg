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F37"/>
                </a:solidFill>
                <a:latin typeface="Cinzel Decorative"/>
              </a:defRPr>
            </a:pPr>
            <a:r>
              <a:t>CYBERQUEST RPG</a:t>
            </a:r>
          </a:p>
          <a:p>
            <a:pPr algn="ctr">
              <a:defRPr sz="2000" i="1">
                <a:solidFill>
                  <a:srgbClr val="38BDF8"/>
                </a:solidFill>
                <a:latin typeface="Outfit"/>
              </a:defRPr>
            </a:pPr>
            <a:r>
              <a:t>"In the labyrinth of deception, knowledge is your weapon."</a:t>
            </a:r>
          </a:p>
          <a:p>
            <a:br/>
            <a:pPr algn="ctr">
              <a:defRPr sz="1600" b="1">
                <a:solidFill>
                  <a:srgbClr val="00FF66"/>
                </a:solidFill>
                <a:latin typeface="Outfit"/>
              </a:defRPr>
            </a:pPr>
            <a:r>
              <a:t>SETS Gameathon 2026 — Final Round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Outfit"/>
              </a:defRPr>
            </a:pPr>
            <a:r>
              <a:t>Developed by Team: Internet Rangers</a:t>
            </a:r>
          </a:p>
          <a:p>
            <a:pPr algn="ctr">
              <a:defRPr sz="1500">
                <a:solidFill>
                  <a:srgbClr val="E2E8F0"/>
                </a:solidFill>
                <a:latin typeface="Outfit"/>
              </a:defRPr>
            </a:pPr>
            <a:r>
              <a:t>Sai Rakesh  &amp;  Yashovardhan Reddy Kandi</a:t>
            </a:r>
          </a:p>
          <a:p>
            <a:pPr algn="ctr">
              <a:defRPr sz="1200">
                <a:solidFill>
                  <a:srgbClr val="38BDF8"/>
                </a:solidFill>
                <a:latin typeface="Outfit"/>
              </a:defRPr>
            </a:pPr>
            <a:r>
              <a:t>C.R. Rao Advanced Institute of Mathematics, Statistics and Computer Science (AIMSCS), Hyderabad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CYBERQUEST RPG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F37"/>
                </a:solidFill>
                <a:latin typeface="Cinzel"/>
              </a:defRPr>
            </a:pPr>
            <a:r>
              <a:t>The Core Problem: Social Engineering &amp; Awareness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  <a:latin typeface="Outfit"/>
              </a:defRPr>
            </a:pPr>
            <a:r>
              <a:t>THE VULNERABILITY GAP</a:t>
            </a:r>
          </a:p>
          <a:p>
            <a:br/>
            <a:pPr>
              <a:defRPr sz="1600">
                <a:solidFill>
                  <a:srgbClr val="E2E8F0"/>
                </a:solidFill>
                <a:latin typeface="Outfit"/>
              </a:defRPr>
            </a:pPr>
            <a:r>
              <a:t>Today, millions of users fall victim to social engineering and malicious attacks due to a critical lack of interactive cybersecurity awareness.</a:t>
            </a:r>
            <a:br/>
            <a:br/>
            <a:r>
              <a:t>Traditional methods like corporate PDFs, compliance videos, or static slides fail because they do not simulate emotional manipulation—like urgency, fear, and panic—leaving users unprepared for real-world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30352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 wrap="square"/>
          <a:lstStyle/>
          <a:p>
            <a:pPr algn="ctr">
              <a:defRPr sz="1800" b="1">
                <a:solidFill>
                  <a:srgbClr val="D4AF37"/>
                </a:solidFill>
                <a:latin typeface="Outfit"/>
              </a:defRPr>
            </a:pPr>
            <a:r>
              <a:t>CRITICAL AWARENESS CHALLENGES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Sophisticated Attack Vectors:</a:t>
            </a:r>
            <a:br/>
            <a:r>
              <a:t>  Phishing, malware downloads, and complex vishing (voice phishing) calls target users directly.</a:t>
            </a:r>
            <a:br/>
            <a:br/>
            <a:r>
              <a:t>• Urgency Exploitation:</a:t>
            </a:r>
            <a:br/>
            <a:r>
              <a:t>  Attackers manipulate emotional responses. Training must build muscle memory to check links and verify identity.</a:t>
            </a:r>
            <a:br/>
            <a:br/>
            <a:r>
              <a:t>• Zero Actionable Training:</a:t>
            </a:r>
            <a:br/>
            <a:r>
              <a:t>  Compliance-driven training is flat. Interactive scenarios are needed to practice responses and test decisions safely.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CYBERQUEST RPG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F37"/>
                </a:solidFill>
                <a:latin typeface="Cinzel"/>
              </a:defRPr>
            </a:pPr>
            <a:r>
              <a:t>Our Solution: The CyberQuest RPG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  <a:latin typeface="Outfit"/>
              </a:defRPr>
            </a:pPr>
            <a:r>
              <a:t>An interactive, adaptive training application that combines education, gamification, and decision-making to reduce the risk of cyberattacks.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94560"/>
            <a:ext cx="3383280" cy="365760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wrap="square"/>
          <a:lstStyle/>
          <a:p>
            <a:pPr algn="ctr">
              <a:defRPr sz="2000" b="1">
                <a:solidFill>
                  <a:srgbClr val="38BDF8"/>
                </a:solidFill>
                <a:latin typeface="Outfit"/>
              </a:defRPr>
            </a:pPr>
            <a:r>
              <a:t>01</a:t>
            </a:r>
            <a:br/>
            <a:br/>
            <a:r>
              <a:t>RECOGNIZE THREATS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Empowers users to spot suspicious patterns in real-time, including fake login domains, malicious update requests, and deceptive bank calls.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2194560"/>
            <a:ext cx="3383280" cy="365760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wrap="square"/>
          <a:lstStyle/>
          <a:p>
            <a:pPr algn="ctr">
              <a:defRPr sz="2000" b="1">
                <a:solidFill>
                  <a:srgbClr val="D4AF37"/>
                </a:solidFill>
                <a:latin typeface="Outfit"/>
              </a:defRPr>
            </a:pPr>
            <a:r>
              <a:t>02</a:t>
            </a:r>
            <a:br/>
            <a:br/>
            <a:r>
              <a:t>LEARN BY SIMULATION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Presents decision-based scenarios designed around real-world cybercrime cases. Users experience the consequences of their actions immediately in a safe sandbox.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80" y="2194560"/>
            <a:ext cx="3383280" cy="3657600"/>
          </a:xfrm>
          <a:prstGeom prst="rect">
            <a:avLst/>
          </a:prstGeom>
          <a:solidFill>
            <a:srgbClr val="1A202C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wrap="square"/>
          <a:lstStyle/>
          <a:p>
            <a:pPr algn="ctr">
              <a:defRPr sz="2000" b="1">
                <a:solidFill>
                  <a:srgbClr val="00FF66"/>
                </a:solidFill>
                <a:latin typeface="Outfit"/>
              </a:defRPr>
            </a:pPr>
            <a:r>
              <a:t>03</a:t>
            </a:r>
            <a:br/>
            <a:br/>
            <a:r>
              <a:t>PRACTICE SAFE RESPONSES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Gamifies protective habits. Teaches users how to use verified channels, analyze URLs, protect confidential credentials, and gain actionable security measures.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CYBERQUEST RPG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F37"/>
                </a:solidFill>
                <a:latin typeface="Cinzel"/>
              </a:defRPr>
            </a:pPr>
            <a:r>
              <a:t>Immersive 3D Labyrinth &amp; Gamification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D4AF37"/>
                </a:solidFill>
                <a:latin typeface="Outfit"/>
              </a:defRPr>
            </a:pPr>
            <a:r>
              <a:t>GAMIFICATION MECHANICS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Active 3D Navigation:</a:t>
            </a:r>
            <a:br/>
            <a:r>
              <a:t>  First-person layout in access-key corridors powered by keyboard controls (WASD/Arrows + Enter). Drives muscle memory.</a:t>
            </a:r>
            <a:br/>
            <a:br/>
            <a:r>
              <a:t>• Live Health (HP) Pool:</a:t>
            </a:r>
            <a:br/>
            <a:r>
              <a:t>  Players start with 100 HP. Engaging with malware updates or sharing data reduces HP. Survival forces vigilant decision-making.</a:t>
            </a:r>
            <a:br/>
            <a:br/>
            <a:r>
              <a:t>• Currency &amp; Upgrades:</a:t>
            </a:r>
            <a:br/>
            <a:r>
              <a:t>  Correct actions reward coins. Coins buy clues, intel, and defensive shields, teaching risk vs. reward dynamics.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645920"/>
            <a:ext cx="5150815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38BDF8"/>
                </a:solidFill>
                <a:latin typeface="Outfit"/>
              </a:defRPr>
            </a:pPr>
            <a:r>
              <a:t>TRAINING STRATEGY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Adaptive Scenarios:</a:t>
            </a:r>
            <a:br/>
            <a:r>
              <a:t>  Events adapt to choices. Spotting a scam early opens safe alternate routes; ignoring red flags leads directly into security gates.</a:t>
            </a:r>
            <a:br/>
            <a:br/>
            <a:r>
              <a:t>• Actionable Safeguards:</a:t>
            </a:r>
            <a:br/>
            <a:r>
              <a:t>  Reinforces critical cyber guidelines. Teaches direct actions like hanging up on vishing calls, verifying domain endings, and configuring Multi-Factor Authentication (MFA).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CYBERQUEST RPG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F37"/>
                </a:solidFill>
                <a:latin typeface="Cinzel"/>
              </a:defRPr>
            </a:pPr>
            <a:r>
              <a:t>Four Interactive Scenario Modules (Case Studies)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5120640" cy="192024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7000" wrap="square"/>
          <a:lstStyle/>
          <a:p>
            <a:pPr algn="ctr">
              <a:defRPr sz="1600" b="1">
                <a:solidFill>
                  <a:srgbClr val="D4AF37"/>
                </a:solidFill>
                <a:latin typeface="Outfit"/>
              </a:defRPr>
            </a:pPr>
            <a:r>
              <a:t>01 | PHISHING HOMOGRAPH ATTACK</a:t>
            </a:r>
          </a:p>
          <a:p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Simulated security messages. Players hover over the 'Verify Now' link to inspect URLs—revealing a lookalike homograph domain (e.g. arcadıakyc-login.org, utilizing a Cyrillic 'ı').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85255" y="1645920"/>
            <a:ext cx="5120640" cy="192024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7000" wrap="square"/>
          <a:lstStyle/>
          <a:p>
            <a:pPr algn="ctr">
              <a:defRPr sz="1600" b="1">
                <a:solidFill>
                  <a:srgbClr val="38BDF8"/>
                </a:solidFill>
                <a:latin typeface="Outfit"/>
              </a:defRPr>
            </a:pPr>
            <a:r>
              <a:t>02 | SOCIAL ENGINEERING VISHING CALLS</a:t>
            </a:r>
          </a:p>
          <a:p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Simulates bank calls (e.g., Arcadia Bank Fraud Team) pressuring the user to share recovery codes/OTPs. Players must make the critical choice to hang up and verify via official routes.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840480"/>
            <a:ext cx="5120640" cy="1920240"/>
          </a:xfrm>
          <a:prstGeom prst="rect">
            <a:avLst/>
          </a:prstGeom>
          <a:solidFill>
            <a:srgbClr val="1A20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7000" wrap="square"/>
          <a:lstStyle/>
          <a:p>
            <a:pPr algn="ctr">
              <a:defRPr sz="1600" b="1">
                <a:solidFill>
                  <a:srgbClr val="EF4444"/>
                </a:solidFill>
                <a:latin typeface="Outfit"/>
              </a:defRPr>
            </a:pPr>
            <a:r>
              <a:t>03 | MALWARE &amp; FAKE UPDATES</a:t>
            </a:r>
          </a:p>
          <a:p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Fake updating popups and file download links block corridors. Players must spot browser mismatch signs and avoid unverified mirrors, redirecting to official sources.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85255" y="3840480"/>
            <a:ext cx="5120640" cy="1920240"/>
          </a:xfrm>
          <a:prstGeom prst="rect">
            <a:avLst/>
          </a:prstGeom>
          <a:solidFill>
            <a:srgbClr val="1A202C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7000" wrap="square"/>
          <a:lstStyle/>
          <a:p>
            <a:pPr algn="ctr">
              <a:defRPr sz="1600" b="1">
                <a:solidFill>
                  <a:srgbClr val="00FF66"/>
                </a:solidFill>
                <a:latin typeface="Outfit"/>
              </a:defRPr>
            </a:pPr>
            <a:r>
              <a:t>04 | BRUTE-FORCE &amp; PASSWORD FORTRESS</a:t>
            </a:r>
          </a:p>
          <a:p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Teaches strong passphrases, credentials hygiene, and multi-factor authentication (MFA) setup as crucial blockers to network intrusion scenarios.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CYBERQUEST RPG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F37"/>
                </a:solidFill>
                <a:latin typeface="Cinzel"/>
              </a:defRPr>
            </a:pPr>
            <a:r>
              <a:t>Dynamic AI Mentor &amp; Void Security Checkpoints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D4AF37"/>
                </a:solidFill>
                <a:latin typeface="Outfit"/>
              </a:defRPr>
            </a:pPr>
            <a:r>
              <a:t>ASK THE CYBER GUIDE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Context-Aware AI Mentor:</a:t>
            </a:r>
            <a:br/>
            <a:r>
              <a:t>  Greymantle is an in-game guide powered by the Groq chat completions API, available directly inside the labyrinth.</a:t>
            </a:r>
            <a:br/>
            <a:br/>
            <a:r>
              <a:t>• Flexible Learning Dialogues:</a:t>
            </a:r>
            <a:br/>
            <a:r>
              <a:t>  Players can ask open-ended questions about complex threats or buy critical intel hints using coins.</a:t>
            </a:r>
            <a:br/>
            <a:br/>
            <a:r>
              <a:t>• Safe Implementation:</a:t>
            </a:r>
            <a:br/>
            <a:r>
              <a:t>  Calls are proxied server-side to hide raw key exposures and restrict operations to cybersecurity contexts.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645920"/>
            <a:ext cx="5150815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00FF66"/>
                </a:solidFill>
                <a:latin typeface="Outfit"/>
              </a:defRPr>
            </a:pPr>
            <a:r>
              <a:t>VOID COLLECTIVE SECURITY GATES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Knowledge Gates:</a:t>
            </a:r>
            <a:br/>
            <a:r>
              <a:t>  Crucial bottleneck portals blocking labyrinth paths, operated by the digital threat group (Void Collective).</a:t>
            </a:r>
            <a:br/>
            <a:br/>
            <a:r>
              <a:t>• Adaptive MCQ Popups:</a:t>
            </a:r>
            <a:br/>
            <a:r>
              <a:t>  Launches 3 sequential multiple-choice questions on general cyber awareness. Features neatly parallel-aligned options.</a:t>
            </a:r>
            <a:br/>
            <a:br/>
            <a:r>
              <a:t>• Success Threshold:</a:t>
            </a:r>
            <a:br/>
            <a:r>
              <a:t>  Players must score at least 2/3 correct to pass. Failing locks the gate, demanding a restart of the corridor.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CYBERQUEST RPG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F37"/>
                </a:solidFill>
                <a:latin typeface="Cinzel"/>
              </a:defRPr>
            </a:pPr>
            <a:r>
              <a:t>Technical Architecture &amp; Security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338328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sz="1600" b="1">
                <a:solidFill>
                  <a:srgbClr val="38BDF8"/>
                </a:solidFill>
                <a:latin typeface="Outfit"/>
              </a:defRPr>
            </a:pPr>
            <a:r>
              <a:t>FRONTEND &amp; GRAPHICS</a:t>
            </a:r>
          </a:p>
          <a:p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Vanilla Web Core:</a:t>
            </a:r>
            <a:br/>
            <a:r>
              <a:t>  HTML5, Vanilla CSS, and JavaScript. Maximizes loading speed and cross-platform compatibility.</a:t>
            </a:r>
            <a:br/>
            <a:br/>
            <a:r>
              <a:t>• 3D Environment:</a:t>
            </a:r>
            <a:br/>
            <a:r>
              <a:t>  Three.js (r128) creates a first-person navigation space without engine overhead.</a:t>
            </a:r>
            <a:br/>
            <a:br/>
            <a:r>
              <a:t>• Responsive Design:</a:t>
            </a:r>
            <a:br/>
            <a:r>
              <a:t>  Fully adaptative to diverse screen sizes, ensuring fluid rendering.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34840" y="1645920"/>
            <a:ext cx="338328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sz="1600" b="1">
                <a:solidFill>
                  <a:srgbClr val="D4AF37"/>
                </a:solidFill>
                <a:latin typeface="Outfit"/>
              </a:defRPr>
            </a:pPr>
            <a:r>
              <a:t>BACKEND &amp; LOGISTIC SERVICES</a:t>
            </a:r>
          </a:p>
          <a:p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Firebase Hosting:</a:t>
            </a:r>
            <a:br/>
            <a:r>
              <a:t>  Global CDN deployment ensuring sub-second page access worldwide.</a:t>
            </a:r>
            <a:br/>
            <a:br/>
            <a:r>
              <a:t>• Cloud Firestore:</a:t>
            </a:r>
            <a:br/>
            <a:r>
              <a:t>  Tracks global threat statistics and maintains realtime leaderboard databases.</a:t>
            </a:r>
            <a:br/>
            <a:br/>
            <a:r>
              <a:t>• Anonymous Auth:</a:t>
            </a:r>
            <a:br/>
            <a:r>
              <a:t>  Frictionless onboarding. Generates pseudonyms (e.g. Guardian #1731) to respect user privacy.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83880" y="1645920"/>
            <a:ext cx="338328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sz="1600" b="1">
                <a:solidFill>
                  <a:srgbClr val="00FF66"/>
                </a:solidFill>
                <a:latin typeface="Outfit"/>
              </a:defRPr>
            </a:pPr>
            <a:r>
              <a:t>PROXY SECURED AI ENGINE</a:t>
            </a:r>
          </a:p>
          <a:p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Server-side API Protection:</a:t>
            </a:r>
            <a:br/>
            <a:r>
              <a:t>  Requests to the LLM are routed through a Firebase Function endpoint (/api/guide).</a:t>
            </a:r>
            <a:br/>
            <a:br/>
            <a:r>
              <a:t>• Groq Chat Completions:</a:t>
            </a:r>
            <a:br/>
            <a:r>
              <a:t>  Powers conversational AI, answering dynamic security queries.</a:t>
            </a:r>
            <a:br/>
            <a:br/>
            <a:r>
              <a:t>• Key Obfuscation:</a:t>
            </a:r>
            <a:br/>
            <a:r>
              <a:t>  Prevents API key exposure in browser client bundles, satisfying push protection rules.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CYBERQUEST RPG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F37"/>
                </a:solidFill>
                <a:latin typeface="Cinzel"/>
              </a:defRPr>
            </a:pPr>
            <a:r>
              <a:t>Gamified Evaluation &amp; Leaderboard Mechanics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solidFill>
            <a:srgbClr val="1A202C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D4AF37"/>
                </a:solidFill>
                <a:latin typeface="Outfit"/>
              </a:defRPr>
            </a:pPr>
            <a:r>
              <a:t>THE GUARDIAN PERFORMANCE FORMULA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CyberQuest evaluates player decisions based on an active defense formula:</a:t>
            </a:r>
          </a:p>
          <a:p>
            <a:br/>
            <a:br/>
            <a:br/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XP represents successful threat spotting.</a:t>
            </a:r>
            <a:br/>
            <a:r>
              <a:t>• Accuracy rewards precision in choice trials.</a:t>
            </a:r>
            <a:br/>
            <a:r>
              <a:t>• HP remaining ensures survival tactics were applied.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2743200"/>
            <a:ext cx="4389120" cy="1097280"/>
          </a:xfrm>
          <a:prstGeom prst="rect">
            <a:avLst/>
          </a:prstGeom>
          <a:solidFill>
            <a:srgbClr val="0B0E14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F66"/>
                </a:solidFill>
                <a:latin typeface="Outfit"/>
              </a:defRPr>
            </a:pPr>
            <a:r>
              <a:t>Score = XP + (Accuracy% × 2) + HP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645920"/>
            <a:ext cx="5150815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38BDF8"/>
                </a:solidFill>
                <a:latin typeface="Outfit"/>
              </a:defRPr>
            </a:pPr>
            <a:r>
              <a:t>THE REWARDS &amp; RETENTION LOOP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Leaderboard Integration:</a:t>
            </a:r>
            <a:br/>
            <a:r>
              <a:t>  Scores are saved to Firestore, fostering healthy competition across schools, teams, and organizations.</a:t>
            </a:r>
            <a:br/>
            <a:br/>
            <a:r>
              <a:t>• Instant Feedback Loops:</a:t>
            </a:r>
            <a:br/>
            <a:r>
              <a:t>  Mistakes are shown immediately, showing why an action was insecure. Fosters rapid behavioral correction.</a:t>
            </a:r>
            <a:br/>
            <a:br/>
            <a:r>
              <a:t>• Safe Failure Sandbox:</a:t>
            </a:r>
            <a:br/>
            <a:r>
              <a:t>  Users fail, reset, and correct. Overcomes the fear of learning security procedures.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CYBERQUEST RPG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F37"/>
                </a:solidFill>
                <a:latin typeface="Cinzel"/>
              </a:defRPr>
            </a:pPr>
            <a:r>
              <a:t>Solutions Supporting Accessibility &amp; Inclusivity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FFFFFF"/>
                </a:solidFill>
                <a:latin typeface="Outfit"/>
              </a:defRPr>
            </a:pPr>
            <a:r>
              <a:t>CyberQuest is engineered to support users with disabilities and varying hardware constraints.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20240"/>
            <a:ext cx="2468880" cy="393192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wrap="square"/>
          <a:lstStyle/>
          <a:p>
            <a:pPr algn="ctr">
              <a:defRPr sz="1600" b="1">
                <a:solidFill>
                  <a:srgbClr val="38BDF8"/>
                </a:solidFill>
                <a:latin typeface="Outfit"/>
              </a:defRPr>
            </a:pPr>
            <a:r>
              <a:t>HEARING IMPAIRED</a:t>
            </a:r>
          </a:p>
          <a:p>
            <a:br/>
            <a:pPr>
              <a:defRPr sz="1100">
                <a:solidFill>
                  <a:srgbClr val="E2E8F0"/>
                </a:solidFill>
                <a:latin typeface="Outfit"/>
              </a:defRPr>
            </a:pPr>
            <a:r>
              <a:t>Simulated vishing calls include visual transcript overlays and clear subtitle text, enabling deaf or hard-of-hearing users to evaluate vocal pressure tricks.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920240"/>
            <a:ext cx="2468880" cy="393192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wrap="square"/>
          <a:lstStyle/>
          <a:p>
            <a:pPr algn="ctr">
              <a:defRPr sz="1600" b="1">
                <a:solidFill>
                  <a:srgbClr val="D4AF37"/>
                </a:solidFill>
                <a:latin typeface="Outfit"/>
              </a:defRPr>
            </a:pPr>
            <a:r>
              <a:t>COGNITIVE &amp; VISUAL</a:t>
            </a:r>
          </a:p>
          <a:p>
            <a:br/>
            <a:pPr>
              <a:defRPr sz="1100">
                <a:solidFill>
                  <a:srgbClr val="E2E8F0"/>
                </a:solidFill>
                <a:latin typeface="Outfit"/>
              </a:defRPr>
            </a:pPr>
            <a:r>
              <a:t>Uses a dark-mode theme by default, clear high-contrast typography, and intuitive color coding (gold highlights, red threat warnings) to support focus.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920240"/>
            <a:ext cx="2468880" cy="3931920"/>
          </a:xfrm>
          <a:prstGeom prst="rect">
            <a:avLst/>
          </a:prstGeom>
          <a:solidFill>
            <a:srgbClr val="1A202C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wrap="square"/>
          <a:lstStyle/>
          <a:p>
            <a:pPr algn="ctr">
              <a:defRPr sz="1600" b="1">
                <a:solidFill>
                  <a:srgbClr val="00FF66"/>
                </a:solidFill>
                <a:latin typeface="Outfit"/>
              </a:defRPr>
            </a:pPr>
            <a:r>
              <a:t>PHYSICAL CONTROLS</a:t>
            </a:r>
          </a:p>
          <a:p>
            <a:br/>
            <a:pPr>
              <a:defRPr sz="1100">
                <a:solidFill>
                  <a:srgbClr val="E2E8F0"/>
                </a:solidFill>
                <a:latin typeface="Outfit"/>
              </a:defRPr>
            </a:pPr>
            <a:r>
              <a:t>Simple navigation controls using WASD or Arrow keys. Interactive popups and dialogue screens use keyboard overrides (Enter key) to ease motor requirements.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915400" y="1920240"/>
            <a:ext cx="2468880" cy="3931920"/>
          </a:xfrm>
          <a:prstGeom prst="rect">
            <a:avLst/>
          </a:prstGeom>
          <a:solidFill>
            <a:srgbClr val="1A20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wrap="square"/>
          <a:lstStyle/>
          <a:p>
            <a:pPr algn="ctr">
              <a:defRPr sz="1600" b="1">
                <a:solidFill>
                  <a:srgbClr val="EF4444"/>
                </a:solidFill>
                <a:latin typeface="Outfit"/>
              </a:defRPr>
            </a:pPr>
            <a:r>
              <a:t>HARDWARE BARRIERS</a:t>
            </a:r>
          </a:p>
          <a:p>
            <a:br/>
            <a:pPr>
              <a:defRPr sz="1100">
                <a:solidFill>
                  <a:srgbClr val="E2E8F0"/>
                </a:solidFill>
                <a:latin typeface="Outfit"/>
              </a:defRPr>
            </a:pPr>
            <a:r>
              <a:t>Zero installation model. Optimized to load under 1.5 seconds on low-bandwidth connections and execute smoothly on integrated graphics.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PITCH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F37"/>
                </a:solidFill>
                <a:latin typeface="Cinzel"/>
              </a:defRPr>
            </a:pPr>
            <a:r>
              <a:t>Summary &amp; Live Prototype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114800"/>
          </a:xfrm>
          <a:prstGeom prst="rect">
            <a:avLst/>
          </a:prstGeom>
          <a:solidFill>
            <a:srgbClr val="1A202C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 tIns="365760" wrap="square"/>
          <a:lstStyle/>
          <a:p>
            <a:pPr algn="ctr">
              <a:defRPr sz="2200" b="1">
                <a:solidFill>
                  <a:srgbClr val="D4AF37"/>
                </a:solidFill>
                <a:latin typeface="Outfit"/>
              </a:defRPr>
            </a:pPr>
            <a:r>
              <a:t>CYBERQUEST RPG: EMPOWERING CITIZENS TO BECOME CYBER GUARDIANS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Production-Ready Web App:</a:t>
            </a:r>
            <a:br/>
            <a:r>
              <a:t>  Fully functional, deployed, and tested on multiple systems prior to evaluation.</a:t>
            </a:r>
            <a:br/>
            <a:br/>
            <a:r>
              <a:t>• Gamified Actionable Awareness:</a:t>
            </a:r>
            <a:br/>
            <a:r>
              <a:t>  Combines immersive gameplay, homograph link detection, scam phone vishing simulations, and an AI mentor to create a comprehensive safety training sandbox.</a:t>
            </a:r>
            <a:br/>
            <a:br/>
            <a:r>
              <a:t>• Inclusivity Focused:</a:t>
            </a:r>
            <a:br/>
            <a:r>
              <a:t>  Supports hardware variations, motor preferences, and sensory conditions to enable digital security learning for everyone.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4389120"/>
            <a:ext cx="7616952" cy="731520"/>
          </a:xfrm>
          <a:prstGeom prst="rect">
            <a:avLst/>
          </a:prstGeom>
          <a:solidFill>
            <a:srgbClr val="0B0E14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FF66"/>
                </a:solidFill>
                <a:latin typeface="Outfit"/>
              </a:defRPr>
            </a:pPr>
            <a:r>
              <a:t>PROTOTYPE DEMONSTRATION (10 MINUTES)</a:t>
            </a:r>
            <a:br/>
            <a:r>
              <a:t>Play now: https://cyberquest-rpg.web.app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