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8BDF8"/>
                </a:solidFill>
                <a:latin typeface="Outfit"/>
              </a:defRPr>
            </a:pPr>
            <a:r>
              <a:t>PROTOTYPE DEVELOPMENT:</a:t>
            </a:r>
          </a:p>
          <a:p>
            <a:pPr algn="ctr">
              <a:defRPr sz="5400" b="1">
                <a:solidFill>
                  <a:srgbClr val="D4AF37"/>
                </a:solidFill>
                <a:latin typeface="Cinzel Decorative"/>
              </a:defRPr>
            </a:pPr>
            <a:r>
              <a:t>CYBERQUEST RPG</a:t>
            </a:r>
          </a:p>
          <a:p>
            <a:pPr algn="ctr">
              <a:defRPr sz="1800" i="1">
                <a:solidFill>
                  <a:srgbClr val="FFFFFF"/>
                </a:solidFill>
                <a:latin typeface="Outfit"/>
              </a:defRPr>
            </a:pPr>
            <a:r>
              <a:t>"In the labyrinth of deception, knowledge is your weapon."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38912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FF66"/>
                </a:solidFill>
                <a:latin typeface="Outfit"/>
              </a:defRPr>
            </a:pPr>
            <a:r>
              <a:t>Team: Internet Rangers (SETS Gameathon 2026 Finalist)</a:t>
            </a:r>
          </a:p>
          <a:p>
            <a:pPr algn="ctr">
              <a:defRPr sz="1500">
                <a:solidFill>
                  <a:srgbClr val="FFFFFF"/>
                </a:solidFill>
                <a:latin typeface="Outfit"/>
              </a:defRPr>
            </a:pPr>
            <a:r>
              <a:t>Sai Rakesh (Co-developer)  &amp;  Yashovardhan Reddy Kandi (Co-developer)</a:t>
            </a:r>
          </a:p>
          <a:p>
            <a:pPr algn="ctr">
              <a:defRPr sz="1200">
                <a:solidFill>
                  <a:srgbClr val="38BDF8"/>
                </a:solidFill>
                <a:latin typeface="Outfit"/>
              </a:defRPr>
            </a:pPr>
            <a:r>
              <a:t>C.R. Rao Advanced Institute of Mathematics, Statistics and Computer Science (AIMSCS), Hyderabad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Outfit"/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D4AF37"/>
                </a:solidFill>
                <a:latin typeface="Cinzel"/>
              </a:defRPr>
            </a:pPr>
            <a:r>
              <a:t>The Social Engineering Threat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F4444"/>
                </a:solidFill>
                <a:latin typeface="Outfit"/>
              </a:defRPr>
            </a:pPr>
            <a:r>
              <a:t>THE AWARENESS GAP</a:t>
            </a:r>
          </a:p>
          <a:p>
            <a:br/>
            <a:pPr>
              <a:defRPr sz="1500">
                <a:solidFill>
                  <a:srgbClr val="E2E8F0"/>
                </a:solidFill>
                <a:latin typeface="Outfit"/>
              </a:defRPr>
            </a:pPr>
            <a:r>
              <a:t>Today, millions of users fall victim to social engineering and malicious attacks due to a critical lack of cybersecurity awareness.</a:t>
            </a:r>
            <a:br/>
            <a:br/>
            <a:r>
              <a:t>Attackers target vulnerable human emotions using urgency and fear. Because standard training tools (text guides, videos, simple presentations) are passive and compliance-driven, they fail to build the split-second reflexes users need to defend themselves against live threats.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645920"/>
            <a:ext cx="5303520" cy="4114800"/>
          </a:xfrm>
          <a:prstGeom prst="rect">
            <a:avLst/>
          </a:prstGeom>
          <a:solidFill>
            <a:srgbClr val="1A202C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 tIns="365760" wrap="square"/>
          <a:lstStyle/>
          <a:p>
            <a:pPr algn="ctr">
              <a:defRPr sz="1800" b="1">
                <a:solidFill>
                  <a:srgbClr val="D4AF37"/>
                </a:solidFill>
                <a:latin typeface="Outfit"/>
              </a:defRPr>
            </a:pPr>
            <a:r>
              <a:t>PRIMARY SECURITY CHALLENGES</a:t>
            </a:r>
          </a:p>
          <a:p>
            <a:br/>
            <a:pPr>
              <a:defRPr sz="1300">
                <a:solidFill>
                  <a:srgbClr val="E2E8F0"/>
                </a:solidFill>
                <a:latin typeface="Outfit"/>
              </a:defRPr>
            </a:pPr>
            <a:r>
              <a:t>• Sophisticated Attack Vectors:</a:t>
            </a:r>
            <a:br/>
            <a:r>
              <a:t>  Phishing emails, homograph domains, vishing scam calls, and malicious fake updates target unsuspecting users.</a:t>
            </a:r>
            <a:br/>
            <a:br/>
            <a:r>
              <a:t>• Emotional Pressure Tactics:</a:t>
            </a:r>
            <a:br/>
            <a:r>
              <a:t>  Attackers manipulate situations (e.g. fake bank alerts) to force rapid actions, bypassing logical checks.</a:t>
            </a:r>
            <a:br/>
            <a:br/>
            <a:r>
              <a:t>• Flat Learning Drawbacks:</a:t>
            </a:r>
            <a:br/>
            <a:r>
              <a:t>  Users memorize facts for tests but fail to apply safety measures when facing real-world interactions.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Outfit"/>
              </a:defRPr>
            </a:pPr>
            <a:r>
              <a:t>OBJECTIVE AND ABSTRACT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D4AF37"/>
                </a:solidFill>
                <a:latin typeface="Cinzel"/>
              </a:defRPr>
            </a:pPr>
            <a:r>
              <a:t>Strategic Objectives &amp; Platform Abstract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5120640" cy="4114800"/>
          </a:xfrm>
          <a:prstGeom prst="rect">
            <a:avLst/>
          </a:prstGeom>
          <a:solidFill>
            <a:srgbClr val="1A20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 wrap="square"/>
          <a:lstStyle/>
          <a:p>
            <a:pPr algn="ctr">
              <a:defRPr sz="1800" b="1">
                <a:solidFill>
                  <a:srgbClr val="38BDF8"/>
                </a:solidFill>
                <a:latin typeface="Outfit"/>
              </a:defRPr>
            </a:pPr>
            <a:r>
              <a:t>PLATFORM ABSTRACT</a:t>
            </a:r>
          </a:p>
          <a:p>
            <a:br/>
            <a:pPr>
              <a:defRPr sz="1400">
                <a:solidFill>
                  <a:srgbClr val="E2E8F0"/>
                </a:solidFill>
                <a:latin typeface="Outfit"/>
              </a:defRPr>
            </a:pPr>
            <a:r>
              <a:t>CyberQuest RPG is a web-based, gamified training platform that transforms passive security guides into active decision-making experiences.</a:t>
            </a:r>
            <a:br/>
            <a:br/>
            <a:r>
              <a:t>By placing users inside a interactive 3D labyrinth, players encounter simulations of real-world threats. They learn to identify tactics, make high-stakes choices, analyze fake link signatures, and verify caller identities in a completely safe failures-tolerant environment.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5080" y="1645920"/>
            <a:ext cx="5150815" cy="4114800"/>
          </a:xfrm>
          <a:prstGeom prst="rect">
            <a:avLst/>
          </a:prstGeom>
          <a:solidFill>
            <a:srgbClr val="1A202C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 wrap="square"/>
          <a:lstStyle/>
          <a:p>
            <a:pPr algn="ctr">
              <a:defRPr sz="1800" b="1">
                <a:solidFill>
                  <a:srgbClr val="D4AF37"/>
                </a:solidFill>
                <a:latin typeface="Outfit"/>
              </a:defRPr>
            </a:pPr>
            <a:r>
              <a:t>KEY OBJECTIVES</a:t>
            </a:r>
          </a:p>
          <a:p>
            <a:br/>
            <a:pPr>
              <a:defRPr sz="1300">
                <a:solidFill>
                  <a:srgbClr val="E2E8F0"/>
                </a:solidFill>
                <a:latin typeface="Outfit"/>
              </a:defRPr>
            </a:pPr>
            <a:r>
              <a:t>• Recognize Deceptive Tactics:</a:t>
            </a:r>
            <a:br/>
            <a:r>
              <a:t>  Train users to spot phishing attempts, malware traps, and AI vishing call pressures.</a:t>
            </a:r>
            <a:br/>
            <a:br/>
            <a:r>
              <a:t>• Adaptive Decision Practice:</a:t>
            </a:r>
            <a:br/>
            <a:r>
              <a:t>  Allow users to experience consequences of actions safely. Bad decisions drop HP; correct ones build confidence.</a:t>
            </a:r>
            <a:br/>
            <a:br/>
            <a:r>
              <a:t>• Build Actionable Reflexes:</a:t>
            </a:r>
            <a:br/>
            <a:r>
              <a:t>  Provide immediate, actionable steps to protect credentials and utilize official verification channels.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Outfit"/>
              </a:defRPr>
            </a:pPr>
            <a:r>
              <a:t>OBJECTIVE AND ABSTRACT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D4AF37"/>
                </a:solidFill>
                <a:latin typeface="Cinzel"/>
              </a:defRPr>
            </a:pPr>
            <a:r>
              <a:t>How Gamification Meets Educational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3383280" cy="4114800"/>
          </a:xfrm>
          <a:prstGeom prst="rect">
            <a:avLst/>
          </a:prstGeom>
          <a:solidFill>
            <a:srgbClr val="1A202C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 wrap="square"/>
          <a:lstStyle/>
          <a:p>
            <a:pPr algn="ctr">
              <a:defRPr sz="1600" b="1">
                <a:solidFill>
                  <a:srgbClr val="D4AF37"/>
                </a:solidFill>
                <a:latin typeface="Outfit"/>
              </a:defRPr>
            </a:pPr>
            <a:r>
              <a:t>EXPLORATION &amp; EMOTION</a:t>
            </a:r>
          </a:p>
          <a:p>
            <a:br/>
            <a:pPr>
              <a:defRPr sz="1200">
                <a:solidFill>
                  <a:srgbClr val="E2E8F0"/>
                </a:solidFill>
                <a:latin typeface="Outfit"/>
              </a:defRPr>
            </a:pPr>
            <a:r>
              <a:t>• First-Person 3D Space:</a:t>
            </a:r>
            <a:br/>
            <a:r>
              <a:t>  Players navigate using keyboard controls (WASD/Arrows + Enter), creating active physical coordination.</a:t>
            </a:r>
            <a:br/>
            <a:br/>
            <a:r>
              <a:t>• Tension &amp; Health Pool:</a:t>
            </a:r>
            <a:br/>
            <a:r>
              <a:t>  Starting at 100 HP, players face threats directly. Losing HP when tricked creates low-stakes stress, simulating real attacks.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434840" y="1645920"/>
            <a:ext cx="3383280" cy="4114800"/>
          </a:xfrm>
          <a:prstGeom prst="rect">
            <a:avLst/>
          </a:prstGeom>
          <a:solidFill>
            <a:srgbClr val="1A20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 wrap="square"/>
          <a:lstStyle/>
          <a:p>
            <a:pPr algn="ctr">
              <a:defRPr sz="1600" b="1">
                <a:solidFill>
                  <a:srgbClr val="38BDF8"/>
                </a:solidFill>
                <a:latin typeface="Outfit"/>
              </a:defRPr>
            </a:pPr>
            <a:r>
              <a:t>ADAPTIVE SIMULATION</a:t>
            </a:r>
          </a:p>
          <a:p>
            <a:br/>
            <a:pPr>
              <a:defRPr sz="1200">
                <a:solidFill>
                  <a:srgbClr val="E2E8F0"/>
                </a:solidFill>
                <a:latin typeface="Outfit"/>
              </a:defRPr>
            </a:pPr>
            <a:r>
              <a:t>• Branching Consequences:</a:t>
            </a:r>
            <a:br/>
            <a:r>
              <a:t>  Platform adapts to user choices. Spotting threats early opens easier paths; failing redirects the player to secure checkpoint gates.</a:t>
            </a:r>
            <a:br/>
            <a:br/>
            <a:r>
              <a:t>• Actionable Practice:</a:t>
            </a:r>
            <a:br/>
            <a:r>
              <a:t>  Teaches specific check protocols, such as hovering to read link paths before clicking.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8183880" y="1645920"/>
            <a:ext cx="3383280" cy="4114800"/>
          </a:xfrm>
          <a:prstGeom prst="rect">
            <a:avLst/>
          </a:prstGeom>
          <a:solidFill>
            <a:srgbClr val="1A202C"/>
          </a:solidFill>
          <a:ln w="19050">
            <a:solidFill>
              <a:srgbClr val="00F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 wrap="square"/>
          <a:lstStyle/>
          <a:p>
            <a:pPr algn="ctr">
              <a:defRPr sz="1600" b="1">
                <a:solidFill>
                  <a:srgbClr val="00FF66"/>
                </a:solidFill>
                <a:latin typeface="Outfit"/>
              </a:defRPr>
            </a:pPr>
            <a:r>
              <a:t>REINFORCING BEHAVIORS</a:t>
            </a:r>
          </a:p>
          <a:p>
            <a:br/>
            <a:pPr>
              <a:defRPr sz="1200">
                <a:solidFill>
                  <a:srgbClr val="E2E8F0"/>
                </a:solidFill>
                <a:latin typeface="Outfit"/>
              </a:defRPr>
            </a:pPr>
            <a:r>
              <a:t>• Score Rewards System:</a:t>
            </a:r>
            <a:br/>
            <a:r>
              <a:t>  XP, coins, and shields reinforce correct actions.</a:t>
            </a:r>
            <a:br/>
            <a:br/>
            <a:r>
              <a:t>• Failure Integration:</a:t>
            </a:r>
            <a:br/>
            <a:r>
              <a:t>  When players fall below HP limits, they restart corridors with feedback. Encourages trial-and-error memory building.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Outfit"/>
              </a:defRPr>
            </a:pPr>
            <a:r>
              <a:t>TECHNOLOGY AND TOOLS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D4AF37"/>
                </a:solidFill>
                <a:latin typeface="Cinzel"/>
              </a:defRPr>
            </a:pPr>
            <a:r>
              <a:t>Lightweight Tech Stack &amp; Secure AI Integration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3383280" cy="4114800"/>
          </a:xfrm>
          <a:prstGeom prst="rect">
            <a:avLst/>
          </a:prstGeom>
          <a:solidFill>
            <a:srgbClr val="1A20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 wrap="square"/>
          <a:lstStyle/>
          <a:p>
            <a:pPr algn="ctr">
              <a:defRPr sz="1600" b="1">
                <a:solidFill>
                  <a:srgbClr val="38BDF8"/>
                </a:solidFill>
                <a:latin typeface="Outfit"/>
              </a:defRPr>
            </a:pPr>
            <a:r>
              <a:t>FRONTEND &amp; GRAPHICS</a:t>
            </a:r>
          </a:p>
          <a:p>
            <a:br/>
            <a:pPr>
              <a:defRPr sz="1200">
                <a:solidFill>
                  <a:srgbClr val="E2E8F0"/>
                </a:solidFill>
                <a:latin typeface="Outfit"/>
              </a:defRPr>
            </a:pPr>
            <a:r>
              <a:t>• Vanilla Web Core:</a:t>
            </a:r>
            <a:br/>
            <a:r>
              <a:t>  HTML5, CSS3, and JavaScript ensure rapid loading and maximum browser support.</a:t>
            </a:r>
            <a:br/>
            <a:br/>
            <a:r>
              <a:t>• WebGL 3D Rendering:</a:t>
            </a:r>
            <a:br/>
            <a:r>
              <a:t>  Three.js (r128) powers the 3D exploration interface efficiently, avoiding heavy engine weight or installation barriers.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434840" y="1645920"/>
            <a:ext cx="3383280" cy="4114800"/>
          </a:xfrm>
          <a:prstGeom prst="rect">
            <a:avLst/>
          </a:prstGeom>
          <a:solidFill>
            <a:srgbClr val="1A202C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 wrap="square"/>
          <a:lstStyle/>
          <a:p>
            <a:pPr algn="ctr">
              <a:defRPr sz="1600" b="1">
                <a:solidFill>
                  <a:srgbClr val="D4AF37"/>
                </a:solidFill>
                <a:latin typeface="Outfit"/>
              </a:defRPr>
            </a:pPr>
            <a:r>
              <a:t>CLOUD BACKEND</a:t>
            </a:r>
          </a:p>
          <a:p>
            <a:br/>
            <a:pPr>
              <a:defRPr sz="1200">
                <a:solidFill>
                  <a:srgbClr val="E2E8F0"/>
                </a:solidFill>
                <a:latin typeface="Outfit"/>
              </a:defRPr>
            </a:pPr>
            <a:r>
              <a:t>• Firebase Hosting:</a:t>
            </a:r>
            <a:br/>
            <a:r>
              <a:t>  Deployed on a global CDN ensuring zero latency.</a:t>
            </a:r>
            <a:br/>
            <a:br/>
            <a:r>
              <a:t>• Firestore Database:</a:t>
            </a:r>
            <a:br/>
            <a:r>
              <a:t>  Maintains secure real-time leaderboard states.</a:t>
            </a:r>
            <a:br/>
            <a:br/>
            <a:r>
              <a:t>• Anonymous Auth:</a:t>
            </a:r>
            <a:br/>
            <a:r>
              <a:t>  Generates pseudonyms (Guardian #1731) to guarantee absolute data privacy.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8183880" y="1645920"/>
            <a:ext cx="3383280" cy="4114800"/>
          </a:xfrm>
          <a:prstGeom prst="rect">
            <a:avLst/>
          </a:prstGeom>
          <a:solidFill>
            <a:srgbClr val="1A202C"/>
          </a:solidFill>
          <a:ln w="19050">
            <a:solidFill>
              <a:srgbClr val="00F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 wrap="square"/>
          <a:lstStyle/>
          <a:p>
            <a:pPr algn="ctr">
              <a:defRPr sz="1600" b="1">
                <a:solidFill>
                  <a:srgbClr val="00FF66"/>
                </a:solidFill>
                <a:latin typeface="Outfit"/>
              </a:defRPr>
            </a:pPr>
            <a:r>
              <a:t>SECURE AI API PROXY</a:t>
            </a:r>
          </a:p>
          <a:p>
            <a:br/>
            <a:pPr>
              <a:defRPr sz="1200">
                <a:solidFill>
                  <a:srgbClr val="E2E8F0"/>
                </a:solidFill>
                <a:latin typeface="Outfit"/>
              </a:defRPr>
            </a:pPr>
            <a:r>
              <a:t>• Serverless Cloud Functions:</a:t>
            </a:r>
            <a:br/>
            <a:r>
              <a:t>  Client commands call a backend proxy function (/api/guide).</a:t>
            </a:r>
            <a:br/>
            <a:br/>
            <a:r>
              <a:t>• API Key Obfuscation:</a:t>
            </a:r>
            <a:br/>
            <a:r>
              <a:t>  API keys (Groq Chat Completion) are stored server-side to satisfy push protection rules.</a:t>
            </a:r>
            <a:br/>
            <a:br/>
            <a:r>
              <a:t>• LLM Safeguards:</a:t>
            </a:r>
            <a:br/>
            <a:r>
              <a:t>  Restricts response scoping to cybersecurity topics.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Outfit"/>
              </a:defRPr>
            </a:pPr>
            <a:r>
              <a:t>TECHNOLOGY AND TOOLS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D4AF37"/>
                </a:solidFill>
                <a:latin typeface="Cinzel"/>
              </a:defRPr>
            </a:pPr>
            <a:r>
              <a:t>Accessibility &amp; Inclusivity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20240"/>
            <a:ext cx="2468880" cy="3931920"/>
          </a:xfrm>
          <a:prstGeom prst="rect">
            <a:avLst/>
          </a:prstGeom>
          <a:solidFill>
            <a:srgbClr val="1A20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74320" wrap="square"/>
          <a:lstStyle/>
          <a:p>
            <a:pPr algn="ctr">
              <a:defRPr sz="1500" b="1">
                <a:solidFill>
                  <a:srgbClr val="38BDF8"/>
                </a:solidFill>
                <a:latin typeface="Outfit"/>
              </a:defRPr>
            </a:pPr>
            <a:r>
              <a:t>HEARING ASSISTANCE</a:t>
            </a:r>
          </a:p>
          <a:p>
            <a:br/>
            <a:pPr>
              <a:defRPr sz="1100">
                <a:solidFill>
                  <a:srgbClr val="E2E8F0"/>
                </a:solidFill>
                <a:latin typeface="Outfit"/>
              </a:defRPr>
            </a:pPr>
            <a:r>
              <a:t>Simulated vishing phone calls feature automated visual transcript overlays and clear subtitles, letting hearing-impaired users identify threat patterns without sound.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1920240"/>
            <a:ext cx="2468880" cy="3931920"/>
          </a:xfrm>
          <a:prstGeom prst="rect">
            <a:avLst/>
          </a:prstGeom>
          <a:solidFill>
            <a:srgbClr val="1A202C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74320" wrap="square"/>
          <a:lstStyle/>
          <a:p>
            <a:pPr algn="ctr">
              <a:defRPr sz="1500" b="1">
                <a:solidFill>
                  <a:srgbClr val="D4AF37"/>
                </a:solidFill>
                <a:latin typeface="Outfit"/>
              </a:defRPr>
            </a:pPr>
            <a:r>
              <a:t>VISUAL ADJUSTMENTS</a:t>
            </a:r>
          </a:p>
          <a:p>
            <a:br/>
            <a:pPr>
              <a:defRPr sz="1100">
                <a:solidFill>
                  <a:srgbClr val="E2E8F0"/>
                </a:solidFill>
                <a:latin typeface="Outfit"/>
              </a:defRPr>
            </a:pPr>
            <a:r>
              <a:t>Utilizes high-contrast dark backgrounds, responsive scales, gold highlight headers, and clear color coding (green correct vs red incorrect) to help focus.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72200" y="1920240"/>
            <a:ext cx="2468880" cy="3931920"/>
          </a:xfrm>
          <a:prstGeom prst="rect">
            <a:avLst/>
          </a:prstGeom>
          <a:solidFill>
            <a:srgbClr val="1A202C"/>
          </a:solidFill>
          <a:ln w="19050">
            <a:solidFill>
              <a:srgbClr val="00F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74320" wrap="square"/>
          <a:lstStyle/>
          <a:p>
            <a:pPr algn="ctr">
              <a:defRPr sz="1500" b="1">
                <a:solidFill>
                  <a:srgbClr val="00FF66"/>
                </a:solidFill>
                <a:latin typeface="Outfit"/>
              </a:defRPr>
            </a:pPr>
            <a:r>
              <a:t>PHYSICAL CONTROLS</a:t>
            </a:r>
          </a:p>
          <a:p>
            <a:br/>
            <a:pPr>
              <a:defRPr sz="1100">
                <a:solidFill>
                  <a:srgbClr val="E2E8F0"/>
                </a:solidFill>
                <a:latin typeface="Outfit"/>
              </a:defRPr>
            </a:pPr>
            <a:r>
              <a:t>Supports simple keyboard controls (WASD/Arrows) and enter key interaction bypasses, offering motor-impaired players straightforward navigation options.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915400" y="1920240"/>
            <a:ext cx="2468880" cy="3931920"/>
          </a:xfrm>
          <a:prstGeom prst="rect">
            <a:avLst/>
          </a:prstGeom>
          <a:solidFill>
            <a:srgbClr val="1A202C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74320" wrap="square"/>
          <a:lstStyle/>
          <a:p>
            <a:pPr algn="ctr">
              <a:defRPr sz="1500" b="1">
                <a:solidFill>
                  <a:srgbClr val="EF4444"/>
                </a:solidFill>
                <a:latin typeface="Outfit"/>
              </a:defRPr>
            </a:pPr>
            <a:r>
              <a:t>HARDWARE BARRIERS</a:t>
            </a:r>
          </a:p>
          <a:p>
            <a:br/>
            <a:pPr>
              <a:defRPr sz="1100">
                <a:solidFill>
                  <a:srgbClr val="E2E8F0"/>
                </a:solidFill>
                <a:latin typeface="Outfit"/>
              </a:defRPr>
            </a:pPr>
            <a:r>
              <a:t>Optimized to execute smoothly on standard laptops and integrated graphics, loading under 1.5 seconds even on low-bandwidth connections.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Outfit"/>
              </a:defRPr>
            </a:pPr>
            <a:r>
              <a:t>DELIVERABLE OUTCOME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D4AF37"/>
                </a:solidFill>
                <a:latin typeface="Cinzel"/>
              </a:defRPr>
            </a:pPr>
            <a:r>
              <a:t>Deliverable Outcome: Simulated Threat Scenarios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5120640" cy="1920240"/>
          </a:xfrm>
          <a:prstGeom prst="rect">
            <a:avLst/>
          </a:prstGeom>
          <a:solidFill>
            <a:srgbClr val="1A202C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7000" wrap="square"/>
          <a:lstStyle/>
          <a:p>
            <a:pPr algn="ctr">
              <a:defRPr sz="1500" b="1">
                <a:solidFill>
                  <a:srgbClr val="D4AF37"/>
                </a:solidFill>
                <a:latin typeface="Outfit"/>
              </a:defRPr>
            </a:pPr>
            <a:r>
              <a:t>01 | PHISHING LINKS (HOMOGRAPH ATTACKS)</a:t>
            </a:r>
          </a:p>
          <a:p>
            <a:pPr>
              <a:defRPr sz="1200">
                <a:solidFill>
                  <a:srgbClr val="E2E8F0"/>
                </a:solidFill>
                <a:latin typeface="Outfit"/>
              </a:defRPr>
            </a:pPr>
            <a:r>
              <a:t>Simulated security alerts. Hovering over a fake link reveals its destination URL, highlighting homograph traps (such as Cyrillic 'ı' in arcadıakyc-login.org).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85255" y="1645920"/>
            <a:ext cx="5120640" cy="1920240"/>
          </a:xfrm>
          <a:prstGeom prst="rect">
            <a:avLst/>
          </a:prstGeom>
          <a:solidFill>
            <a:srgbClr val="1A20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7000" wrap="square"/>
          <a:lstStyle/>
          <a:p>
            <a:pPr algn="ctr">
              <a:defRPr sz="1500" b="1">
                <a:solidFill>
                  <a:srgbClr val="38BDF8"/>
                </a:solidFill>
                <a:latin typeface="Outfit"/>
              </a:defRPr>
            </a:pPr>
            <a:r>
              <a:t>02 | SOCIAL ENGINEERING VISHING SIMULATION</a:t>
            </a:r>
          </a:p>
          <a:p>
            <a:pPr>
              <a:defRPr sz="1200">
                <a:solidFill>
                  <a:srgbClr val="E2E8F0"/>
                </a:solidFill>
                <a:latin typeface="Outfit"/>
              </a:defRPr>
            </a:pPr>
            <a:r>
              <a:t>Simulates phone calls (e.g. Arcadia Bank Fraud Team) pressuring the user to reveal OTPs. Players must reject the call and verify through official channels.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840480"/>
            <a:ext cx="5120640" cy="1920240"/>
          </a:xfrm>
          <a:prstGeom prst="rect">
            <a:avLst/>
          </a:prstGeom>
          <a:solidFill>
            <a:srgbClr val="1A202C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7000" wrap="square"/>
          <a:lstStyle/>
          <a:p>
            <a:pPr algn="ctr">
              <a:defRPr sz="1500" b="1">
                <a:solidFill>
                  <a:srgbClr val="EF4444"/>
                </a:solidFill>
                <a:latin typeface="Outfit"/>
              </a:defRPr>
            </a:pPr>
            <a:r>
              <a:t>03 | MALWARE UPDATES &amp; POPUPS</a:t>
            </a:r>
          </a:p>
          <a:p>
            <a:pPr>
              <a:defRPr sz="1200">
                <a:solidFill>
                  <a:srgbClr val="E2E8F0"/>
                </a:solidFill>
                <a:latin typeface="Outfit"/>
              </a:defRPr>
            </a:pPr>
            <a:r>
              <a:t>Deceptive popup updating alerts block corridor lanes. Players must spot signature visual red flags and redirect to official vendor stores.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85255" y="3840480"/>
            <a:ext cx="5120640" cy="1920240"/>
          </a:xfrm>
          <a:prstGeom prst="rect">
            <a:avLst/>
          </a:prstGeom>
          <a:solidFill>
            <a:srgbClr val="1A202C"/>
          </a:solidFill>
          <a:ln w="19050">
            <a:solidFill>
              <a:srgbClr val="00F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7000" wrap="square"/>
          <a:lstStyle/>
          <a:p>
            <a:pPr algn="ctr">
              <a:defRPr sz="1500" b="1">
                <a:solidFill>
                  <a:srgbClr val="00FF66"/>
                </a:solidFill>
                <a:latin typeface="Outfit"/>
              </a:defRPr>
            </a:pPr>
            <a:r>
              <a:t>04 | CREDENTIAL HYGIENE &amp; FORTRESS GATES</a:t>
            </a:r>
          </a:p>
          <a:p>
            <a:pPr>
              <a:defRPr sz="1200">
                <a:solidFill>
                  <a:srgbClr val="E2E8F0"/>
                </a:solidFill>
                <a:latin typeface="Outfit"/>
              </a:defRPr>
            </a:pPr>
            <a:r>
              <a:t>Explores brute-force mechanics, reinforcing passphrase length, multi-factor authentication (MFA), and credential reuse hazards.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Outfit"/>
              </a:defRPr>
            </a:pPr>
            <a:r>
              <a:t>DELIVERABLE OUTCOME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D4AF37"/>
                </a:solidFill>
                <a:latin typeface="Cinzel"/>
              </a:defRPr>
            </a:pPr>
            <a:r>
              <a:t>Deliverable Outcome: Conversational Guide &amp; MCQ Gates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5120640" cy="4114800"/>
          </a:xfrm>
          <a:prstGeom prst="rect">
            <a:avLst/>
          </a:prstGeom>
          <a:solidFill>
            <a:srgbClr val="1A202C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 wrap="square"/>
          <a:lstStyle/>
          <a:p>
            <a:pPr algn="ctr">
              <a:defRPr sz="1800" b="1">
                <a:solidFill>
                  <a:srgbClr val="D4AF37"/>
                </a:solidFill>
                <a:latin typeface="Outfit"/>
              </a:defRPr>
            </a:pPr>
            <a:r>
              <a:t>ASK THE CYBER GUIDE</a:t>
            </a:r>
          </a:p>
          <a:p>
            <a:br/>
            <a:pPr>
              <a:defRPr sz="1400">
                <a:solidFill>
                  <a:srgbClr val="E2E8F0"/>
                </a:solidFill>
                <a:latin typeface="Outfit"/>
              </a:defRPr>
            </a:pPr>
            <a:r>
              <a:t>• Serverless LLM Mentor:</a:t>
            </a:r>
            <a:br/>
            <a:r>
              <a:t>  Greymantle answers dynamic player questions inside the game context, using Firestore logs for history.</a:t>
            </a:r>
            <a:br/>
            <a:br/>
            <a:r>
              <a:t>• Risk-free Inquiry:</a:t>
            </a:r>
            <a:br/>
            <a:r>
              <a:t>  Players clarify complex threats safely during gameplay, or purchase tactical guides using coins.</a:t>
            </a:r>
            <a:br/>
            <a:br/>
            <a:r>
              <a:t>• Secure Architecture:</a:t>
            </a:r>
            <a:br/>
            <a:r>
              <a:t>  Proxies API keys server-side via Firebase Cloud Functions, resolving key leakage alerts.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5080" y="1645920"/>
            <a:ext cx="5150815" cy="4114800"/>
          </a:xfrm>
          <a:prstGeom prst="rect">
            <a:avLst/>
          </a:prstGeom>
          <a:solidFill>
            <a:srgbClr val="1A202C"/>
          </a:solidFill>
          <a:ln w="19050">
            <a:solidFill>
              <a:srgbClr val="00F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 wrap="square"/>
          <a:lstStyle/>
          <a:p>
            <a:pPr algn="ctr">
              <a:defRPr sz="1800" b="1">
                <a:solidFill>
                  <a:srgbClr val="00FF66"/>
                </a:solidFill>
                <a:latin typeface="Outfit"/>
              </a:defRPr>
            </a:pPr>
            <a:r>
              <a:t>VOID COLLECTIVE SECURITY GATES</a:t>
            </a:r>
          </a:p>
          <a:p>
            <a:br/>
            <a:pPr>
              <a:defRPr sz="1400">
                <a:solidFill>
                  <a:srgbClr val="E2E8F0"/>
                </a:solidFill>
                <a:latin typeface="Outfit"/>
              </a:defRPr>
            </a:pPr>
            <a:r>
              <a:t>• MCQ Checkpoints:</a:t>
            </a:r>
            <a:br/>
            <a:r>
              <a:t>  Checkpoint gates block paths, requiring players to clear a 3-question MCQ quiz to collect key segments.</a:t>
            </a:r>
            <a:br/>
            <a:br/>
            <a:r>
              <a:t>• Sequential Quiz Interface:</a:t>
            </a:r>
            <a:br/>
            <a:r>
              <a:t>  Presents questions one-at-a-time, featuring parallel-aligned choices and a clean flow.</a:t>
            </a:r>
            <a:br/>
            <a:br/>
            <a:r>
              <a:t>• Threshold Enforcement:</a:t>
            </a:r>
            <a:br/>
            <a:r>
              <a:t>  Requires a score of 2/3 correct to bypass. Failing locks the gate, demanding a retry of the corridor.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5120640" cy="41148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Outfit"/>
              </a:defRPr>
            </a:pPr>
            <a:r>
              <a:t>DELIVERABLE OUTCOME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D4AF37"/>
                </a:solidFill>
                <a:latin typeface="Cinzel"/>
              </a:defRPr>
            </a:pPr>
            <a:r>
              <a:t>Deliverable Outcome: Gamified Score &amp; Leaderboard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5120640" cy="4114800"/>
          </a:xfrm>
          <a:prstGeom prst="rect">
            <a:avLst/>
          </a:prstGeom>
          <a:solidFill>
            <a:srgbClr val="1A202C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 wrap="square"/>
          <a:lstStyle/>
          <a:p>
            <a:pPr algn="ctr">
              <a:defRPr sz="1800" b="1">
                <a:solidFill>
                  <a:srgbClr val="D4AF37"/>
                </a:solidFill>
                <a:latin typeface="Outfit"/>
              </a:defRPr>
            </a:pPr>
            <a:r>
              <a:t>THE GUARDIAN PERFORMANCE FORMULA</a:t>
            </a:r>
          </a:p>
          <a:p>
            <a:br/>
            <a:pPr>
              <a:defRPr sz="1400">
                <a:solidFill>
                  <a:srgbClr val="E2E8F0"/>
                </a:solidFill>
                <a:latin typeface="Outfit"/>
              </a:defRPr>
            </a:pPr>
            <a:r>
              <a:t>Player achievements are graded using an active defense formula:</a:t>
            </a:r>
          </a:p>
          <a:p>
            <a:br/>
            <a:br/>
            <a:br/>
            <a:br/>
            <a:pPr>
              <a:defRPr sz="1200">
                <a:solidFill>
                  <a:srgbClr val="E2E8F0"/>
                </a:solidFill>
                <a:latin typeface="Outfit"/>
              </a:defRPr>
            </a:pPr>
            <a:r>
              <a:t>• XP represents successful threat spotting.</a:t>
            </a:r>
            <a:br/>
            <a:r>
              <a:t>• Accuracy rewards precision in choice trials.</a:t>
            </a:r>
            <a:br/>
            <a:r>
              <a:t>• HP remaining ensures survival tactics were applied.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" y="2743200"/>
            <a:ext cx="4389120" cy="1097280"/>
          </a:xfrm>
          <a:prstGeom prst="rect">
            <a:avLst/>
          </a:prstGeom>
          <a:solidFill>
            <a:srgbClr val="0B0E14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F66"/>
                </a:solidFill>
                <a:latin typeface="Outfit"/>
              </a:defRPr>
            </a:pPr>
            <a:r>
              <a:t>Score = XP + (Accuracy% × 2) + HP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645920"/>
            <a:ext cx="5150815" cy="4114800"/>
          </a:xfrm>
          <a:prstGeom prst="rect">
            <a:avLst/>
          </a:prstGeom>
          <a:solidFill>
            <a:srgbClr val="1A202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 wrap="square"/>
          <a:lstStyle/>
          <a:p>
            <a:pPr algn="ctr">
              <a:defRPr sz="1800" b="1">
                <a:solidFill>
                  <a:srgbClr val="38BDF8"/>
                </a:solidFill>
                <a:latin typeface="Outfit"/>
              </a:defRPr>
            </a:pPr>
            <a:r>
              <a:t>LEADERBOARD &amp; ENGAGEMENT LOOP</a:t>
            </a:r>
          </a:p>
          <a:p>
            <a:br/>
            <a:pPr>
              <a:defRPr sz="1400">
                <a:solidFill>
                  <a:srgbClr val="E2E8F0"/>
                </a:solidFill>
                <a:latin typeface="Outfit"/>
              </a:defRPr>
            </a:pPr>
            <a:r>
              <a:t>• Real-Time Firestore Leaderboard:</a:t>
            </a:r>
            <a:br/>
            <a:r>
              <a:t>  Saves scores anonymously, fostering healthy competition among team members or organizations.</a:t>
            </a:r>
            <a:br/>
            <a:br/>
            <a:r>
              <a:t>• Immediate Correction Feedback:</a:t>
            </a:r>
            <a:br/>
            <a:r>
              <a:t>  Decisions display instant alerts explaining why an action was insecure, building memory loops.</a:t>
            </a:r>
            <a:br/>
            <a:br/>
            <a:r>
              <a:t>• Frictionless Failing:</a:t>
            </a:r>
            <a:br/>
            <a:r>
              <a:t>  Low-stakes errors keep players engaged, avoiding the fatigue of standard cyber compliance training.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Outfit"/>
              </a:defRPr>
            </a:pPr>
            <a:r>
              <a:t>DELIVERABLE OUTCOME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D4AF37"/>
                </a:solidFill>
                <a:latin typeface="Cinzel"/>
              </a:defRPr>
            </a:pPr>
            <a:r>
              <a:t>Summary of Deployed Gameathon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114800"/>
          </a:xfrm>
          <a:prstGeom prst="rect">
            <a:avLst/>
          </a:prstGeom>
          <a:solidFill>
            <a:srgbClr val="1A202C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 tIns="365760" wrap="square"/>
          <a:lstStyle/>
          <a:p>
            <a:pPr algn="ctr">
              <a:defRPr sz="2200" b="1">
                <a:solidFill>
                  <a:srgbClr val="D4AF37"/>
                </a:solidFill>
                <a:latin typeface="Outfit"/>
              </a:defRPr>
            </a:pPr>
            <a:r>
              <a:t>CYBERQUEST RPG: FULLY DEPLOYED PROTOTYPE</a:t>
            </a:r>
          </a:p>
          <a:p>
            <a:br/>
            <a:pPr>
              <a:defRPr sz="1400">
                <a:solidFill>
                  <a:srgbClr val="E2E8F0"/>
                </a:solidFill>
                <a:latin typeface="Outfit"/>
              </a:defRPr>
            </a:pPr>
            <a:r>
              <a:t>• Fully Functional &amp; Hosted Web Application:</a:t>
            </a:r>
            <a:br/>
            <a:r>
              <a:t>  Tested on multiple platforms, with zero setup required to inspect or evaluate.</a:t>
            </a:r>
            <a:br/>
            <a:br/>
            <a:r>
              <a:t>• Integrated Learning Sandbox:</a:t>
            </a:r>
            <a:br/>
            <a:r>
              <a:t>  Successfully combines threat spotting, vishing audio vishing calls, homograph URLs, security MCQ checkpoints, and dynamic AI guidance.</a:t>
            </a:r>
            <a:br/>
            <a:br/>
            <a:r>
              <a:t>• Designed for Inclusivity:</a:t>
            </a:r>
            <a:br/>
            <a:r>
              <a:t>  Includes keyboard motor control mappings, screen reader accommodations, visual subtitles, and lightweight optimization.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4389120"/>
            <a:ext cx="7616952" cy="731520"/>
          </a:xfrm>
          <a:prstGeom prst="rect">
            <a:avLst/>
          </a:prstGeom>
          <a:solidFill>
            <a:srgbClr val="0B0E14"/>
          </a:solidFill>
          <a:ln w="19050">
            <a:solidFill>
              <a:srgbClr val="00F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FF66"/>
                </a:solidFill>
                <a:latin typeface="Outfit"/>
              </a:defRPr>
            </a:pPr>
            <a:r>
              <a:t>PROTOTYPE DEMONSTRATION (10 MINUTES)</a:t>
            </a:r>
            <a:br/>
            <a:r>
              <a:t>Play now: https://cyberquest-rpg.web.app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